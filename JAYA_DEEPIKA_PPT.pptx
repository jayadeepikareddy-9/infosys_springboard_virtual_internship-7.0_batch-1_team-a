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s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-angle exterior view of a modern building facade covered with alumini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-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55;p19"/>
          <p:cNvSpPr txBox="1"/>
          <p:nvPr/>
        </p:nvSpPr>
        <p:spPr>
          <a:xfrm>
            <a:off x="1348202" y="9811356"/>
            <a:ext cx="24384001" cy="1044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Internship:</a:t>
            </a:r>
            <a:r>
              <a:rPr b="0"/>
              <a:t> Infosys Springboard Virtual Internship 7.0 </a:t>
            </a:r>
          </a:p>
        </p:txBody>
      </p:sp>
      <p:sp>
        <p:nvSpPr>
          <p:cNvPr id="172" name="Google Shape;156;p19"/>
          <p:cNvSpPr txBox="1"/>
          <p:nvPr/>
        </p:nvSpPr>
        <p:spPr>
          <a:xfrm>
            <a:off x="161527" y="1147275"/>
            <a:ext cx="24060946" cy="2729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defRPr b="1" sz="6600">
                <a:latin typeface="Twentieth Century"/>
                <a:ea typeface="Twentieth Century"/>
                <a:cs typeface="Twentieth Century"/>
                <a:sym typeface="Twentieth Century"/>
              </a:defRPr>
            </a:pPr>
            <a:r>
              <a:t>Supply Chain Visibility System with Optimization Analytics </a:t>
            </a:r>
          </a:p>
          <a:p>
            <a:pPr>
              <a:defRPr b="1" sz="5800">
                <a:latin typeface="Twentieth Century"/>
                <a:ea typeface="Twentieth Century"/>
                <a:cs typeface="Twentieth Century"/>
                <a:sym typeface="Twentieth Century"/>
              </a:defRPr>
            </a:pPr>
            <a:r>
              <a:t>                                              Group 1</a:t>
            </a:r>
          </a:p>
        </p:txBody>
      </p:sp>
      <p:sp>
        <p:nvSpPr>
          <p:cNvPr id="173" name="Google Shape;157;p19"/>
          <p:cNvSpPr txBox="1"/>
          <p:nvPr/>
        </p:nvSpPr>
        <p:spPr>
          <a:xfrm>
            <a:off x="1514080" y="11013907"/>
            <a:ext cx="24384001" cy="1044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Mentor:</a:t>
            </a:r>
            <a:r>
              <a:rPr b="0"/>
              <a:t> Ms. Nityasree  </a:t>
            </a:r>
          </a:p>
        </p:txBody>
      </p:sp>
      <p:sp>
        <p:nvSpPr>
          <p:cNvPr id="174" name="Google Shape;158;p19"/>
          <p:cNvSpPr txBox="1"/>
          <p:nvPr/>
        </p:nvSpPr>
        <p:spPr>
          <a:xfrm>
            <a:off x="2059106" y="4123036"/>
            <a:ext cx="24384001" cy="2138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lnSpc>
                <a:spcPct val="115000"/>
              </a:lnSpc>
              <a:spcBef>
                <a:spcPts val="2400"/>
              </a:spcBef>
              <a:defRPr i="1" sz="4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Interactive Supply Chain Analysis and Business Intelligence using Power BI</a:t>
            </a:r>
          </a:p>
        </p:txBody>
      </p:sp>
      <p:sp>
        <p:nvSpPr>
          <p:cNvPr id="175" name="Google Shape;159;p19"/>
          <p:cNvSpPr txBox="1"/>
          <p:nvPr/>
        </p:nvSpPr>
        <p:spPr>
          <a:xfrm>
            <a:off x="4004758" y="5769192"/>
            <a:ext cx="24384001" cy="2177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       Team Member:</a:t>
            </a:r>
            <a:r>
              <a:rPr b="0"/>
              <a:t>Jaya Deepika Reddy Challa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64;p20"/>
          <p:cNvSpPr txBox="1"/>
          <p:nvPr/>
        </p:nvSpPr>
        <p:spPr>
          <a:xfrm>
            <a:off x="401985" y="1372696"/>
            <a:ext cx="22816803" cy="12382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lnSpc>
                <a:spcPct val="115000"/>
              </a:lnSpc>
              <a:spcBef>
                <a:spcPts val="2800"/>
              </a:spcBef>
              <a:defRPr b="1" sz="3800">
                <a:latin typeface="Arial"/>
                <a:ea typeface="Arial"/>
                <a:cs typeface="Arial"/>
                <a:sym typeface="Arial"/>
              </a:defRPr>
            </a:pPr>
            <a:r>
              <a:t>Project Objective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To analyze supply chain performance using real-world supply chain data.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To clean and transform raw data into an analysis-ready format.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To analyze sales, products, customers, delivery, shipping, orders, discounts, and profitability.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To develop interactive dashboards for data-driven decision-making.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 sz="3800">
                <a:latin typeface="Arial"/>
                <a:ea typeface="Arial"/>
                <a:cs typeface="Arial"/>
                <a:sym typeface="Arial"/>
              </a:defRPr>
            </a:pPr>
            <a:r>
              <a:t>Project Modules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Data Collection &amp; Understanding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Data Preprocessing &amp; Cleaning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Power BI Dashboard Development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Business Analysis &amp; Insights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800"/>
              <a:buFont typeface="Arial"/>
              <a:buChar char="●"/>
              <a:defRPr sz="3800"/>
            </a:pPr>
            <a:r>
              <a:t>Recommendations &amp; Reporting</a:t>
            </a:r>
          </a:p>
        </p:txBody>
      </p:sp>
      <p:sp>
        <p:nvSpPr>
          <p:cNvPr id="178" name="Google Shape;165;p20"/>
          <p:cNvSpPr txBox="1"/>
          <p:nvPr/>
        </p:nvSpPr>
        <p:spPr>
          <a:xfrm>
            <a:off x="545026" y="70853"/>
            <a:ext cx="24384001" cy="128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defRPr b="1" sz="6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PROJECT OBJECTIVE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70;p21"/>
          <p:cNvSpPr txBox="1"/>
          <p:nvPr/>
        </p:nvSpPr>
        <p:spPr>
          <a:xfrm>
            <a:off x="0" y="132650"/>
            <a:ext cx="24384001" cy="120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defRPr b="1" sz="55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PROJECT EXECUTION MILESTONES </a:t>
            </a:r>
          </a:p>
        </p:txBody>
      </p:sp>
      <p:sp>
        <p:nvSpPr>
          <p:cNvPr id="181" name="Google Shape;171;p21"/>
          <p:cNvSpPr txBox="1"/>
          <p:nvPr/>
        </p:nvSpPr>
        <p:spPr>
          <a:xfrm>
            <a:off x="0" y="1430795"/>
            <a:ext cx="24384001" cy="11899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lnSpc>
                <a:spcPct val="115000"/>
              </a:lnSpc>
              <a:spcBef>
                <a:spcPts val="2800"/>
              </a:spcBef>
              <a:defRPr b="1" sz="3600">
                <a:latin typeface="Arial"/>
                <a:ea typeface="Arial"/>
                <a:cs typeface="Arial"/>
                <a:sym typeface="Arial"/>
              </a:defRPr>
            </a:pPr>
            <a:r>
              <a:t>Milestone 1 – Data Preprocessing &amp; Cleaning</a:t>
            </a:r>
          </a:p>
          <a:p>
            <a:pPr marL="800100" indent="-6858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600"/>
              <a:buFont typeface="Arial"/>
              <a:buChar char="●"/>
              <a:defRPr sz="3600"/>
            </a:pPr>
            <a:r>
              <a:t>Collected and studied the DataCo Supply Chain Dataset, performed data preprocessing and cleaning using Power Query Editor, removed unnecessary data, corrected data types, handled duplicates and prepared the final analysis-ready dataset.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 sz="3600">
                <a:latin typeface="Arial"/>
                <a:ea typeface="Arial"/>
                <a:cs typeface="Arial"/>
                <a:sym typeface="Arial"/>
              </a:defRPr>
            </a:pPr>
            <a:r>
              <a:t>Milestone 2 – Initial Dashboard Development</a:t>
            </a:r>
          </a:p>
          <a:p>
            <a:pPr marL="800100" indent="-6858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600"/>
              <a:buFont typeface="Arial"/>
              <a:buChar char="●"/>
              <a:defRPr sz="3600"/>
            </a:pPr>
            <a:r>
              <a:t>Developed the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Supply Chain Performance Dashboard</a:t>
            </a:r>
            <a:r>
              <a:t> and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Product Performance &amp; Pricing Dashboard</a:t>
            </a:r>
            <a:r>
              <a:t> to analyze overall supply chain performance, products, categories, departments, pricing and sales.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 sz="3600">
                <a:latin typeface="Arial"/>
                <a:ea typeface="Arial"/>
                <a:cs typeface="Arial"/>
                <a:sym typeface="Arial"/>
              </a:defRPr>
            </a:pPr>
            <a:r>
              <a:t>Milestone 3 – Detailed Business Analysis</a:t>
            </a:r>
          </a:p>
          <a:p>
            <a:pPr marL="800100" indent="-6858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600"/>
              <a:buFont typeface="Arial"/>
              <a:buChar char="●"/>
              <a:defRPr sz="3600"/>
            </a:pPr>
            <a:r>
              <a:t>Developed the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Customer &amp; Geographic Analysis Dashboard</a:t>
            </a:r>
            <a:r>
              <a:t>,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Delivery &amp; Shipping Performance Dashboard</a:t>
            </a:r>
            <a:r>
              <a:t>, and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Regional &amp; Market Performance Dashboard</a:t>
            </a:r>
            <a:r>
              <a:t> to analyze customers, geography, delivery, shipping, markets and regional performance.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 sz="3600">
                <a:latin typeface="Arial"/>
                <a:ea typeface="Arial"/>
                <a:cs typeface="Arial"/>
                <a:sym typeface="Arial"/>
              </a:defRPr>
            </a:pPr>
            <a:r>
              <a:t>Milestone 4 – Final Dashboard Development</a:t>
            </a:r>
          </a:p>
          <a:p>
            <a:pPr marL="800100" indent="-6858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600"/>
              <a:buFont typeface="Arial"/>
              <a:buChar char="●"/>
              <a:defRPr sz="3600"/>
            </a:pPr>
            <a:r>
              <a:t>Developed the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Order &amp; Discount Performance Dashboard</a:t>
            </a:r>
            <a:r>
              <a:t> and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Profitability &amp; Order Insights Dashboard</a:t>
            </a:r>
            <a:r>
              <a:t>, completing the seven-dashboard analysis covering orders, discounts, departments, shipping modes, profitability and order status.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76;p22"/>
          <p:cNvSpPr txBox="1"/>
          <p:nvPr/>
        </p:nvSpPr>
        <p:spPr>
          <a:xfrm>
            <a:off x="-1" y="94550"/>
            <a:ext cx="24445202" cy="128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defRPr b="1" sz="6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CHALLENGES &amp; RESOLUTIONS </a:t>
            </a:r>
          </a:p>
        </p:txBody>
      </p:sp>
      <p:sp>
        <p:nvSpPr>
          <p:cNvPr id="184" name="Google Shape;177;p22"/>
          <p:cNvSpPr txBox="1"/>
          <p:nvPr/>
        </p:nvSpPr>
        <p:spPr>
          <a:xfrm>
            <a:off x="30600" y="1501923"/>
            <a:ext cx="24384001" cy="12188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lnSpc>
                <a:spcPct val="115000"/>
              </a:lnSpc>
              <a:spcBef>
                <a:spcPts val="2800"/>
              </a:spcBef>
              <a:defRPr b="1" sz="4200">
                <a:latin typeface="Arial"/>
                <a:ea typeface="Arial"/>
                <a:cs typeface="Arial"/>
                <a:sym typeface="Arial"/>
              </a:defRPr>
            </a:pPr>
            <a:r>
              <a:t>Challenges</a:t>
            </a:r>
          </a:p>
          <a:p>
            <a:pPr marL="825500" indent="-7366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4200"/>
              <a:buAutoNum type="arabicPeriod" startAt="1"/>
              <a:defRPr sz="4200"/>
            </a:pPr>
            <a:r>
              <a:t>The raw dataset contained a large number of columns and records, making it difficult to identify the required information.</a:t>
            </a:r>
          </a:p>
          <a:p>
            <a:pPr marL="825500" indent="-736600">
              <a:lnSpc>
                <a:spcPct val="115000"/>
              </a:lnSpc>
              <a:buClr>
                <a:srgbClr val="000000"/>
              </a:buClr>
              <a:buSzPts val="4200"/>
              <a:buAutoNum type="arabicPeriod" startAt="1"/>
              <a:defRPr sz="4200"/>
            </a:pPr>
            <a:r>
              <a:t>Some columns required data-type corrections, transformations, and cleaning before analysis.</a:t>
            </a:r>
          </a:p>
          <a:p>
            <a:pPr marL="825500" indent="-736600">
              <a:lnSpc>
                <a:spcPct val="115000"/>
              </a:lnSpc>
              <a:buClr>
                <a:srgbClr val="000000"/>
              </a:buClr>
              <a:buSzPts val="4200"/>
              <a:buAutoNum type="arabicPeriod" startAt="1"/>
              <a:defRPr sz="4200"/>
            </a:pPr>
            <a:r>
              <a:t>Different business aspects had to be represented using suitable and non-repetitive Power BI visualizations.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 sz="4200">
                <a:latin typeface="Arial"/>
                <a:ea typeface="Arial"/>
                <a:cs typeface="Arial"/>
                <a:sym typeface="Arial"/>
              </a:defRPr>
            </a:pPr>
            <a:r>
              <a:t>Resolutions</a:t>
            </a:r>
          </a:p>
          <a:p>
            <a:pPr marL="825500" indent="-7366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4200"/>
              <a:buAutoNum type="arabicPeriod" startAt="1"/>
              <a:defRPr sz="4200"/>
            </a:pPr>
            <a:r>
              <a:t>Studied the dataset structure and identified relevant columns based on the dashboard requirements.</a:t>
            </a:r>
          </a:p>
          <a:p>
            <a:pPr marL="825500" indent="-736600">
              <a:lnSpc>
                <a:spcPct val="115000"/>
              </a:lnSpc>
              <a:buClr>
                <a:srgbClr val="000000"/>
              </a:buClr>
              <a:buSzPts val="4200"/>
              <a:buAutoNum type="arabicPeriod" startAt="1"/>
              <a:defRPr sz="4200"/>
            </a:pPr>
            <a:r>
              <a:t>Used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Power Query Editor</a:t>
            </a:r>
            <a:r>
              <a:t> to clean, transform, rename, and prepare the dataset.</a:t>
            </a:r>
          </a:p>
          <a:p>
            <a:pPr marL="825500" indent="-736600">
              <a:lnSpc>
                <a:spcPct val="115000"/>
              </a:lnSpc>
              <a:buClr>
                <a:srgbClr val="000000"/>
              </a:buClr>
              <a:buSzPts val="4200"/>
              <a:buAutoNum type="arabicPeriod" startAt="1"/>
              <a:defRPr sz="4200"/>
            </a:pPr>
            <a:r>
              <a:t>Selected appropriate Power BI visuals for each analysis and divided the project into seven focused dashboards.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2;p23"/>
          <p:cNvSpPr txBox="1"/>
          <p:nvPr/>
        </p:nvSpPr>
        <p:spPr>
          <a:xfrm>
            <a:off x="260664" y="507831"/>
            <a:ext cx="24384001" cy="128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defRPr b="1" sz="6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FUTURE ENHANCEMENTS &amp; KEY INSIGHTS </a:t>
            </a:r>
          </a:p>
        </p:txBody>
      </p:sp>
      <p:sp>
        <p:nvSpPr>
          <p:cNvPr id="187" name="Google Shape;183;p23"/>
          <p:cNvSpPr txBox="1"/>
          <p:nvPr/>
        </p:nvSpPr>
        <p:spPr>
          <a:xfrm>
            <a:off x="347699" y="2153978"/>
            <a:ext cx="23688602" cy="1121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lnSpc>
                <a:spcPct val="115000"/>
              </a:lnSpc>
              <a:spcBef>
                <a:spcPts val="2800"/>
              </a:spcBef>
              <a:defRPr b="1" sz="4600">
                <a:latin typeface="Arial"/>
                <a:ea typeface="Arial"/>
                <a:cs typeface="Arial"/>
                <a:sym typeface="Arial"/>
              </a:defRPr>
            </a:pPr>
            <a:r>
              <a:t>Future Enhancements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4600"/>
              <a:buFont typeface="Arial"/>
              <a:buChar char="●"/>
              <a:defRPr sz="4600"/>
            </a:pPr>
            <a:r>
              <a:t>Integrate real-time supply chain data for continuous monitoring.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600"/>
              <a:buFont typeface="Arial"/>
              <a:buChar char="●"/>
              <a:defRPr sz="4600"/>
            </a:pPr>
            <a:r>
              <a:t>Add sales and demand forecasting capabilities.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600"/>
              <a:buFont typeface="Arial"/>
              <a:buChar char="●"/>
              <a:defRPr sz="4600"/>
            </a:pPr>
            <a:r>
              <a:t>Develop predictive analysis for potential late deliveries.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600"/>
              <a:buFont typeface="Arial"/>
              <a:buChar char="●"/>
              <a:defRPr sz="4600"/>
            </a:pPr>
            <a:r>
              <a:t>Introduce advanced analytics and automation for better decision-making.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 sz="4600">
                <a:latin typeface="Arial"/>
                <a:ea typeface="Arial"/>
                <a:cs typeface="Arial"/>
                <a:sym typeface="Arial"/>
              </a:defRPr>
            </a:pPr>
            <a:r>
              <a:t>Key Insights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4600"/>
              <a:buFont typeface="Arial"/>
              <a:buChar char="●"/>
              <a:defRPr sz="4600"/>
            </a:pPr>
            <a:r>
              <a:t>More than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180K orders</a:t>
            </a:r>
            <a:r>
              <a:t> were analyzed, indicating large-scale supply chain activity.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600"/>
              <a:buFont typeface="Arial"/>
              <a:buChar char="●"/>
              <a:defRPr b="1" sz="4600">
                <a:latin typeface="Arial"/>
                <a:ea typeface="Arial"/>
                <a:cs typeface="Arial"/>
                <a:sym typeface="Arial"/>
              </a:defRPr>
            </a:pPr>
            <a:r>
              <a:t>Europe</a:t>
            </a:r>
            <a:r>
              <a:rPr b="0"/>
              <a:t> emerged as a strong-performing market in terms of sales.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600"/>
              <a:buFont typeface="Arial"/>
              <a:buChar char="●"/>
              <a:defRPr b="1" sz="4600">
                <a:latin typeface="Arial"/>
                <a:ea typeface="Arial"/>
                <a:cs typeface="Arial"/>
                <a:sym typeface="Arial"/>
              </a:defRPr>
            </a:pPr>
            <a:r>
              <a:t>Late deliveries</a:t>
            </a:r>
            <a:r>
              <a:rPr b="0"/>
              <a:t> highlighted an important area for logistics improvement.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8;p24"/>
          <p:cNvSpPr txBox="1"/>
          <p:nvPr/>
        </p:nvSpPr>
        <p:spPr>
          <a:xfrm>
            <a:off x="189574" y="355215"/>
            <a:ext cx="24384001" cy="128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defRPr b="1" sz="6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CONCLUSION </a:t>
            </a:r>
          </a:p>
        </p:txBody>
      </p:sp>
      <p:sp>
        <p:nvSpPr>
          <p:cNvPr id="190" name="Google Shape;189;p24"/>
          <p:cNvSpPr txBox="1"/>
          <p:nvPr/>
        </p:nvSpPr>
        <p:spPr>
          <a:xfrm>
            <a:off x="0" y="1574617"/>
            <a:ext cx="24384001" cy="1620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defRPr sz="43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The Supply Chain Visibility System with Optimization Analytics project successfully transformed the DataCo Supply Chain Dataset into an interactive Power BI-based Business Intelligence solution. </a:t>
            </a:r>
          </a:p>
        </p:txBody>
      </p:sp>
      <p:sp>
        <p:nvSpPr>
          <p:cNvPr id="191" name="Google Shape;190;p24"/>
          <p:cNvSpPr txBox="1"/>
          <p:nvPr/>
        </p:nvSpPr>
        <p:spPr>
          <a:xfrm>
            <a:off x="451844" y="3456619"/>
            <a:ext cx="22816802" cy="9800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lnSpc>
                <a:spcPct val="115000"/>
              </a:lnSpc>
              <a:spcBef>
                <a:spcPts val="2800"/>
              </a:spcBef>
              <a:defRPr b="1" sz="3700">
                <a:latin typeface="Arial"/>
                <a:ea typeface="Arial"/>
                <a:cs typeface="Arial"/>
                <a:sym typeface="Arial"/>
              </a:defRPr>
            </a:pPr>
            <a:r>
              <a:t>Technical Skills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700"/>
              <a:buFont typeface="Arial"/>
              <a:buChar char="●"/>
              <a:defRPr sz="3700"/>
            </a:pPr>
            <a:r>
              <a:t>Power BI &amp; Dashboard Development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700"/>
              <a:buFont typeface="Arial"/>
              <a:buChar char="●"/>
              <a:defRPr sz="3700"/>
            </a:pPr>
            <a:r>
              <a:t>Power Query Data Preprocessing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700"/>
              <a:buFont typeface="Arial"/>
              <a:buChar char="●"/>
              <a:defRPr sz="3700"/>
            </a:pPr>
            <a:r>
              <a:t>Data Visualization &amp; Business Analysis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 sz="3700">
                <a:latin typeface="Arial"/>
                <a:ea typeface="Arial"/>
                <a:cs typeface="Arial"/>
                <a:sym typeface="Arial"/>
              </a:defRPr>
            </a:pPr>
            <a:r>
              <a:t>Soft Skills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3700"/>
              <a:buFont typeface="Arial"/>
              <a:buChar char="●"/>
              <a:defRPr sz="3700"/>
            </a:pPr>
            <a:r>
              <a:t>Problem Solving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700"/>
              <a:buFont typeface="Arial"/>
              <a:buChar char="●"/>
              <a:defRPr sz="3700"/>
            </a:pPr>
            <a:r>
              <a:t>Communication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700"/>
              <a:buFont typeface="Arial"/>
              <a:buChar char="●"/>
              <a:defRPr sz="3700"/>
            </a:pPr>
            <a:r>
              <a:t>Time Management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3700"/>
              <a:buFont typeface="Arial"/>
              <a:buChar char="●"/>
              <a:defRPr sz="3700"/>
            </a:pPr>
            <a:r>
              <a:t>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5;p25"/>
          <p:cNvSpPr txBox="1"/>
          <p:nvPr/>
        </p:nvSpPr>
        <p:spPr>
          <a:xfrm>
            <a:off x="284361" y="423660"/>
            <a:ext cx="24384001" cy="128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>
            <a:lvl1pPr>
              <a:defRPr b="1" sz="6000">
                <a:latin typeface="Twentieth Century"/>
                <a:ea typeface="Twentieth Century"/>
                <a:cs typeface="Twentieth Century"/>
                <a:sym typeface="Twentieth Century"/>
              </a:defRPr>
            </a:lvl1pPr>
          </a:lstStyle>
          <a:p>
            <a:pPr/>
            <a:r>
              <a:t>ACKNOWLEDGEMENTS &amp; REFERENCES </a:t>
            </a:r>
          </a:p>
        </p:txBody>
      </p:sp>
      <p:sp>
        <p:nvSpPr>
          <p:cNvPr id="194" name="Google Shape;196;p25"/>
          <p:cNvSpPr txBox="1"/>
          <p:nvPr/>
        </p:nvSpPr>
        <p:spPr>
          <a:xfrm>
            <a:off x="395196" y="1924856"/>
            <a:ext cx="22171801" cy="11475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49" tIns="182849" rIns="182849" bIns="182849" anchor="ctr">
            <a:spAutoFit/>
          </a:bodyPr>
          <a:lstStyle/>
          <a:p>
            <a:pPr>
              <a:lnSpc>
                <a:spcPct val="115000"/>
              </a:lnSpc>
              <a:spcBef>
                <a:spcPts val="2800"/>
              </a:spcBef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Acknowledgements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4800"/>
              <a:buFont typeface="Arial"/>
              <a:buChar char="●"/>
            </a:pPr>
            <a:r>
              <a:t>Infosys Springboard Virtual Internship 7.0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800"/>
              <a:buFont typeface="Arial"/>
              <a:buChar char="●"/>
            </a:pPr>
            <a:r>
              <a:t>Ms. Nityasree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800"/>
              <a:buFont typeface="Arial"/>
              <a:buChar char="●"/>
            </a:pPr>
            <a:r>
              <a:t>Jaya Deepika Reddy Challa</a:t>
            </a:r>
          </a:p>
          <a:p>
            <a:pPr>
              <a:lnSpc>
                <a:spcPct val="115000"/>
              </a:lnSpc>
              <a:spcBef>
                <a:spcPts val="2800"/>
              </a:spcBef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References</a:t>
            </a:r>
          </a:p>
          <a:p>
            <a:pPr marL="838200" indent="-762000">
              <a:lnSpc>
                <a:spcPct val="115000"/>
              </a:lnSpc>
              <a:spcBef>
                <a:spcPts val="2400"/>
              </a:spcBef>
              <a:buClr>
                <a:srgbClr val="000000"/>
              </a:buClr>
              <a:buSzPts val="4800"/>
              <a:buFont typeface="Arial"/>
              <a:buChar char="●"/>
            </a:pPr>
            <a:r>
              <a:t>DataCo Supply Chain Dataset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800"/>
              <a:buFont typeface="Arial"/>
              <a:buChar char="●"/>
            </a:pPr>
            <a:r>
              <a:t>Microsoft Power BI Documentation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800"/>
              <a:buFont typeface="Arial"/>
              <a:buChar char="●"/>
            </a:pPr>
            <a:r>
              <a:t>Microsoft Power Query Documentation</a:t>
            </a:r>
          </a:p>
          <a:p>
            <a:pPr marL="838200" indent="-762000">
              <a:lnSpc>
                <a:spcPct val="115000"/>
              </a:lnSpc>
              <a:buClr>
                <a:srgbClr val="000000"/>
              </a:buClr>
              <a:buSzPts val="4800"/>
              <a:buFont typeface="Arial"/>
              <a:buChar char="●"/>
            </a:pPr>
            <a:r>
              <a:t>Infosys Springboard Learning Materials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JAYA DEEPIKA REDDY CHALLA   |   TEAM A  |   INFOSYS INTERNSHIP 7.0"/>
          <p:cNvSpPr txBox="1"/>
          <p:nvPr/>
        </p:nvSpPr>
        <p:spPr>
          <a:xfrm>
            <a:off x="2183212" y="12434436"/>
            <a:ext cx="21387185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0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JAYA DEEPIKA REDDY CHALLA   |   TEAM A  |   INFOSYS INTERNSHIP 7.0 </a:t>
            </a:r>
          </a:p>
        </p:txBody>
      </p:sp>
      <p:pic>
        <p:nvPicPr>
          <p:cNvPr id="197" name="5a431f16-3470-4919-b58c-93e0e1753eca.png" descr="5a431f16-3470-4919-b58c-93e0e1753eca.png"/>
          <p:cNvPicPr>
            <a:picLocks noChangeAspect="1"/>
          </p:cNvPicPr>
          <p:nvPr/>
        </p:nvPicPr>
        <p:blipFill>
          <a:blip r:embed="rId2">
            <a:alphaModFix amt="95557"/>
            <a:extLst/>
          </a:blip>
          <a:stretch>
            <a:fillRect/>
          </a:stretch>
        </p:blipFill>
        <p:spPr>
          <a:xfrm>
            <a:off x="4642201" y="1445652"/>
            <a:ext cx="14751643" cy="98344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